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6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Master" Target="slideMasters/slideMaster1.xml"/><Relationship Id="rId1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Translating PyGRANSO OSQP QP Solves to Torch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540000" y="940000"/>
            <a:ext cx="108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900" b="0">
                <a:solidFill>
                  <a:srgbClr val="475569"/>
                </a:solidFill>
                <a:latin typeface="Aptos"/>
              </a:rPr>
              <a:t>Progress, current limitations, and future work</a:t>
            </a:r>
            <a:endParaRPr lang="en-US" sz="1900"/>
          </a:p>
        </p:txBody>
      </p:sp>
      <p:sp>
        <p:nvSpPr>
          <p:cNvPr id="6" name="Bullets"/>
          <p:cNvSpPr txBox="1"/>
          <p:nvPr/>
        </p:nvSpPr>
        <p:spPr>
          <a:xfrm>
            <a:off x="620000" y="125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Goal: solve PyGRANSO QP subproblems without forced NumPy / CPU conversion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Current milestone: Torch-native dense OSQP-style prototype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Main concern: GPU execution does not guarantee speedup</a:t>
            </a:r>
            <a:endParaRPr lang="en-US" sz="170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Where OSQP Appears in PyGRANSO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pygransoOptions.py: exposes QP solver and OSQP backend policy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bfgssqp.py: stores QPsolver and osqp_options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qpSteeringStrategy.py: solves steering QPs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qpTerminationCondition.py: solves stationarity QPs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solveQP.py: dispatches QPsolver='osqp' into the adapter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osqpTorchAdapter.py: chooses builtin vs Torch backend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torchOSQP.py: dense Torch ADMM prototype</a:t>
            </a:r>
            <a:endParaRPr lang="en-US" sz="1700"/>
          </a:p>
        </p:txBody>
      </p:sp>
      <p:sp>
        <p:nvSpPr>
          <p:cNvPr id="6" name="Callout"/>
          <p:cNvSpPr txBox="1"/>
          <p:nvPr/>
        </p:nvSpPr>
        <p:spPr>
          <a:xfrm>
            <a:off x="7700000" y="5050000"/>
            <a:ext cx="3900000" cy="760000"/>
          </a:xfrm>
          <a:prstGeom prst="rect">
            <a:avLst/>
          </a:prstGeom>
          <a:solidFill>
            <a:srgbClr val="CCFBF1"/>
          </a:solidFill>
          <a:ln>
            <a:solidFill>
              <a:srgbClr val="5EEAD4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600" b="1">
                <a:solidFill>
                  <a:srgbClr val="134E4A"/>
                </a:solidFill>
                <a:latin typeface="Aptos"/>
              </a:rPr>
              <a:t>Call chain: options -&gt; bfgssqp -&gt; steering / termination QPs -&gt; solveQP -&gt; OSQP adapter -&gt; backend</a:t>
            </a:r>
            <a:endParaRPr lang="en-US" sz="160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PyGRANSO QP Form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PyGRANSO builds stationarity / steering QPs as: H, f, Aeq, beq, LB, UB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H: quadratic matrix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f: linear objective vector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Aeq, beq: equality constraints, sometimes absent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LB, UB: variable lower and upper bounds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Inputs may be Torch tensors on CPU or CUDA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Returned solution must remain a Torch column vector with shape (nvar, 1)</a:t>
            </a:r>
            <a:endParaRPr lang="en-US" sz="1700"/>
          </a:p>
        </p:txBody>
      </p:sp>
      <p:sp>
        <p:nvSpPr>
          <p:cNvPr id="6" name="Code"/>
          <p:cNvSpPr txBox="1"/>
          <p:nvPr/>
        </p:nvSpPr>
        <p:spPr>
          <a:xfrm>
            <a:off x="7800000" y="1450000"/>
            <a:ext cx="3800000" cy="3900000"/>
          </a:xfrm>
          <a:prstGeom prst="rect">
            <a:avLst/>
          </a:prstGeom>
          <a:solidFill>
            <a:srgbClr val="0F172A"/>
          </a:solidFill>
          <a:ln>
            <a:solidFill>
              <a:srgbClr val="0F766E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H, f, Aeq, beq, LB, UB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/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solution shape: (nvar, 1)</a:t>
            </a:r>
            <a:endParaRPr lang="en-US" sz="145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Translation to OSQP Canonical Form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The adapter converts PyGRANSO QP data into OSQP's P, q, A, l, u form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Equality constraints become fixed lower and upper bounds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Variable bounds are represented by appending an identity matrix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If equality constraints are absent, only the identity-bound block is used</a:t>
            </a:r>
            <a:endParaRPr lang="en-US" sz="1700"/>
          </a:p>
        </p:txBody>
      </p:sp>
      <p:sp>
        <p:nvSpPr>
          <p:cNvPr id="6" name="Code"/>
          <p:cNvSpPr txBox="1"/>
          <p:nvPr/>
        </p:nvSpPr>
        <p:spPr>
          <a:xfrm>
            <a:off x="7800000" y="1450000"/>
            <a:ext cx="3800000" cy="3900000"/>
          </a:xfrm>
          <a:prstGeom prst="rect">
            <a:avLst/>
          </a:prstGeom>
          <a:solidFill>
            <a:srgbClr val="0F172A"/>
          </a:solidFill>
          <a:ln>
            <a:solidFill>
              <a:srgbClr val="0F766E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P = H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q = f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A = [Aeq; I]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l = [beq; LB]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u = [beq; UB]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/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No Aeq/beq: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A = I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l = LB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u = UB</a:t>
            </a:r>
            <a:endParaRPr lang="en-US" sz="145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Original CPU Builtin Path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algebra='builtin' keeps the existing compatibility path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Torch tensors are converted with value.detach().cpu().numpy()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SciPy CSC matrices are built for P and A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Python OSQP is called as osqp.OSQP(algebra='builtin')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The solution is converted back to a Torch column vector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Reliable and mature, but it is a CPU solve</a:t>
            </a:r>
            <a:endParaRPr lang="en-US" sz="1700"/>
          </a:p>
        </p:txBody>
      </p:sp>
      <p:sp>
        <p:nvSpPr>
          <p:cNvPr id="6" name="Callout"/>
          <p:cNvSpPr txBox="1"/>
          <p:nvPr/>
        </p:nvSpPr>
        <p:spPr>
          <a:xfrm>
            <a:off x="7700000" y="5050000"/>
            <a:ext cx="3900000" cy="760000"/>
          </a:xfrm>
          <a:prstGeom prst="rect">
            <a:avLst/>
          </a:prstGeom>
          <a:solidFill>
            <a:srgbClr val="CCFBF1"/>
          </a:solidFill>
          <a:ln>
            <a:solidFill>
              <a:srgbClr val="5EEAD4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600" b="1">
                <a:solidFill>
                  <a:srgbClr val="134E4A"/>
                </a:solidFill>
                <a:latin typeface="Aptos"/>
              </a:rPr>
              <a:t>Returning a CUDA tensor at the end does not mean the QP was solved on GPU.</a:t>
            </a:r>
            <a:endParaRPr lang="en-US" sz="160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New Torch Backend Path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algebra='torch' keeps QP data as Torch tensors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Autograd is detached because the QP solve is not differentiated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CUDA tensors remain on CUDA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Constraints are built with Torch operations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The adapter calls solve_torch_osqp(...) instead of Python OSQP</a:t>
            </a:r>
            <a:endParaRPr lang="en-US" sz="1700"/>
          </a:p>
        </p:txBody>
      </p:sp>
      <p:sp>
        <p:nvSpPr>
          <p:cNvPr id="6" name="Code"/>
          <p:cNvSpPr txBox="1"/>
          <p:nvPr/>
        </p:nvSpPr>
        <p:spPr>
          <a:xfrm>
            <a:off x="7800000" y="1450000"/>
            <a:ext cx="3800000" cy="3900000"/>
          </a:xfrm>
          <a:prstGeom prst="rect">
            <a:avLst/>
          </a:prstGeom>
          <a:solidFill>
            <a:srgbClr val="0F172A"/>
          </a:solidFill>
          <a:ln>
            <a:solidFill>
              <a:srgbClr val="0F766E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algebra='torch'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  real Torch / CUDA tensor computation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  no NumPy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  no SciPy sparse conversion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  no Python OSQP call</a:t>
            </a:r>
            <a:endParaRPr lang="en-US" sz="145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Backend Policy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CPU + auto / builtin: existing Python OSQP CPU path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CPU + torch: dense Torch prototype on CPU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CUDA + auto / torch: dense Torch prototype on CUDA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CUDA + builtin: raises unless cuda_fallback=True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Any + cuda: reserved future real OSQP CUDA interop, currently raises</a:t>
            </a:r>
            <a:endParaRPr lang="en-US" sz="1700"/>
          </a:p>
        </p:txBody>
      </p:sp>
      <p:sp>
        <p:nvSpPr>
          <p:cNvPr id="6" name="Code"/>
          <p:cNvSpPr txBox="1"/>
          <p:nvPr/>
        </p:nvSpPr>
        <p:spPr>
          <a:xfrm>
            <a:off x="7800000" y="1450000"/>
            <a:ext cx="3800000" cy="3900000"/>
          </a:xfrm>
          <a:prstGeom prst="rect">
            <a:avLst/>
          </a:prstGeom>
          <a:solidFill>
            <a:srgbClr val="0F172A"/>
          </a:solidFill>
          <a:ln>
            <a:solidFill>
              <a:srgbClr val="0F766E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builtin -&gt; Python OSQP / SciPy / NumPy / CPU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torch   -&gt; Torch tensor prototype, CUDA-capable, dense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cuda    -&gt; future real OSQP CUDA interop, not implemented yet</a:t>
            </a:r>
            <a:endParaRPr lang="en-US" sz="145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Torch ADMM Prototype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Build a dense KKT matrix using Torch tensors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Each iteration solves a linear system with torch.linalg.solve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Projection is done by clamping z into [l, u]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Stopping uses OSQP-style primal and dual infinity-norm residuals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Supported settings include rho, sigma, alpha, max_iter, eps_abs, eps_rel</a:t>
            </a:r>
            <a:endParaRPr lang="en-US" sz="1700"/>
          </a:p>
        </p:txBody>
      </p:sp>
      <p:sp>
        <p:nvSpPr>
          <p:cNvPr id="6" name="Code"/>
          <p:cNvSpPr txBox="1"/>
          <p:nvPr/>
        </p:nvSpPr>
        <p:spPr>
          <a:xfrm>
            <a:off x="7800000" y="1450000"/>
            <a:ext cx="3800000" cy="3900000"/>
          </a:xfrm>
          <a:prstGeom prst="rect">
            <a:avLst/>
          </a:prstGeom>
          <a:solidFill>
            <a:srgbClr val="0F172A"/>
          </a:solidFill>
          <a:ln>
            <a:solidFill>
              <a:srgbClr val="0F766E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K = [[P + sigma I, A.T],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     [A,          -(1/rho) I]]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/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solve K [x_tilde; nu] = rhs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z_next = clamp(z_relaxed + y/rho, l, u)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y_next = y + rho * (z_relaxed - z_next)</a:t>
            </a:r>
            <a:endParaRPr lang="en-US" sz="145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What Works Now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CPU Torch backend solves a simple bound QP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CPU Torch backend validates equality-plus-bounds mapping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CUDA Torch backend preserves device, dtype, and (nvar, 1) shape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CUDA no-copy guard proves the Torch path does not call the NumPy converter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CPU builtin regression still passes with Python OSQP installed</a:t>
            </a:r>
            <a:endParaRPr lang="en-US" sz="1700"/>
          </a:p>
        </p:txBody>
      </p:sp>
      <p:sp>
        <p:nvSpPr>
          <p:cNvPr id="6" name="Code"/>
          <p:cNvSpPr txBox="1"/>
          <p:nvPr/>
        </p:nvSpPr>
        <p:spPr>
          <a:xfrm>
            <a:off x="7800000" y="1450000"/>
            <a:ext cx="3800000" cy="3900000"/>
          </a:xfrm>
          <a:prstGeom prst="rect">
            <a:avLst/>
          </a:prstGeom>
          <a:solidFill>
            <a:srgbClr val="0F172A"/>
          </a:solidFill>
          <a:ln>
            <a:solidFill>
              <a:srgbClr val="0F766E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pytest -q test_osqp_torch_adapter.py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16 passed</a:t>
            </a:r>
            <a:endParaRPr lang="en-US" sz="145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Important Limitation: Sparsity Is Broken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OSQP is fast largely because it exploits sparse matrices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The Torch prototype currently builds dense matrices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Bound constraints add an identity matrix, which is mathematically sparse but materialized dense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The KKT matrix is assembled as one dense block matrix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torch.linalg.solve treats the system as dense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to_dense() explicitly destroys sparse layout if sparse tensors appear</a:t>
            </a:r>
            <a:endParaRPr lang="en-US" sz="1700"/>
          </a:p>
        </p:txBody>
      </p:sp>
      <p:sp>
        <p:nvSpPr>
          <p:cNvPr id="6" name="Callout"/>
          <p:cNvSpPr txBox="1"/>
          <p:nvPr/>
        </p:nvSpPr>
        <p:spPr>
          <a:xfrm>
            <a:off x="7700000" y="5050000"/>
            <a:ext cx="3900000" cy="760000"/>
          </a:xfrm>
          <a:prstGeom prst="rect">
            <a:avLst/>
          </a:prstGeom>
          <a:solidFill>
            <a:srgbClr val="CCFBF1"/>
          </a:solidFill>
          <a:ln>
            <a:solidFill>
              <a:srgbClr val="5EEAD4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600" b="1">
                <a:solidFill>
                  <a:srgbClr val="134E4A"/>
                </a:solidFill>
                <a:latin typeface="Aptos"/>
              </a:rPr>
              <a:t>Real CUDA execution can still be slow if the algorithm stops exploiting sparse structure.</a:t>
            </a:r>
            <a:endParaRPr lang="en-US" sz="160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Why GPU May Not Accelerate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CPU OSQP uses sparse CSC data structures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CPU OSQP has mature factorization, scaling, adaptive rho, and polishing behavior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Torch prototype uses dense A and dense K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Torch prototype solves the dense KKT system repeatedly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No sparse factorization cache, no warm start logic, no adaptive rho, no scaling, no polishing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For small or sparse PyGRANSO QPs, CPU OSQP may still win</a:t>
            </a:r>
            <a:endParaRPr lang="en-US" sz="1700"/>
          </a:p>
        </p:txBody>
      </p:sp>
      <p:sp>
        <p:nvSpPr>
          <p:cNvPr id="6" name="Code"/>
          <p:cNvSpPr txBox="1"/>
          <p:nvPr/>
        </p:nvSpPr>
        <p:spPr>
          <a:xfrm>
            <a:off x="7800000" y="1450000"/>
            <a:ext cx="3800000" cy="3900000"/>
          </a:xfrm>
          <a:prstGeom prst="rect">
            <a:avLst/>
          </a:prstGeom>
          <a:solidFill>
            <a:srgbClr val="0F172A"/>
          </a:solidFill>
          <a:ln>
            <a:solidFill>
              <a:srgbClr val="0F766E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GPU execution != automatic speedup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/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Speed depends on problem size, sparsity, copy overhead, and linear algebra structure.</a:t>
            </a:r>
            <a:endParaRPr lang="en-US" sz="145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Fallback Behavior and Fake-GPU Risk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Dangerous case: CUDA tensors fall back to builtin OSQP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Data copies CUDA -&gt; CPU through .detach().cpu().numpy()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Python OSQP solves on CPU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Solution copies back to CUDA at the end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Default cuda_fallback=False raises instead of silently pretending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If cuda_fallback=True, the adapter warns explicitly</a:t>
            </a:r>
            <a:endParaRPr lang="en-US" sz="1700"/>
          </a:p>
        </p:txBody>
      </p:sp>
      <p:sp>
        <p:nvSpPr>
          <p:cNvPr id="6" name="Code"/>
          <p:cNvSpPr txBox="1"/>
          <p:nvPr/>
        </p:nvSpPr>
        <p:spPr>
          <a:xfrm>
            <a:off x="7800000" y="1450000"/>
            <a:ext cx="3800000" cy="3900000"/>
          </a:xfrm>
          <a:prstGeom prst="rect">
            <a:avLst/>
          </a:prstGeom>
          <a:solidFill>
            <a:srgbClr val="0F172A"/>
          </a:solidFill>
          <a:ln>
            <a:solidFill>
              <a:srgbClr val="0F766E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CUDA tensors + builtin fallback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  -&gt; copy QP data to CPU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  -&gt; solve with Python OSQP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  -&gt; copy solution back to CUDA</a:t>
            </a:r>
            <a:endParaRPr lang="en-US" sz="145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The Right Benchmark Question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Bad question: Does it run on GPU?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Better question: Does algebra='torch' beat builtin CPU OSQP on real PyGRANSO QPs?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Measure QP size: variables and constraints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Measure sparsity density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Compare CPU builtin time, Torch CUDA time, and CPU copy overhead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Track ADMM iterations and memory use</a:t>
            </a:r>
            <a:endParaRPr lang="en-US" sz="1700"/>
          </a:p>
        </p:txBody>
      </p:sp>
      <p:sp>
        <p:nvSpPr>
          <p:cNvPr id="6" name="Code"/>
          <p:cNvSpPr txBox="1"/>
          <p:nvPr/>
        </p:nvSpPr>
        <p:spPr>
          <a:xfrm>
            <a:off x="7800000" y="1450000"/>
            <a:ext cx="3800000" cy="3900000"/>
          </a:xfrm>
          <a:prstGeom prst="rect">
            <a:avLst/>
          </a:prstGeom>
          <a:solidFill>
            <a:srgbClr val="0F172A"/>
          </a:solidFill>
          <a:ln>
            <a:solidFill>
              <a:srgbClr val="0F766E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Benchmark target: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  builtin CPU OSQP vs Torch CUDA prototype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  on QPs generated by PyGRANSO, not only toy QPs</a:t>
            </a:r>
            <a:endParaRPr lang="en-US" sz="145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Future Work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Add benchmark instrumentation around solveQP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Compare builtin vs torch on real PyGRANSO-generated QPs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Preserve sparse structure instead of building dense A and K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Investigate sparse Torch operations or custom CUDA sparse KKT solves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Add warm starts and factorization reuse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Add adaptive rho and scaling equivalents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Eventually connect to real OSQP CUDA algebra / interop</a:t>
            </a:r>
            <a:endParaRPr lang="en-US" sz="1700"/>
          </a:p>
        </p:txBody>
      </p:sp>
      <p:sp>
        <p:nvSpPr>
          <p:cNvPr id="6" name="Callout"/>
          <p:cNvSpPr txBox="1"/>
          <p:nvPr/>
        </p:nvSpPr>
        <p:spPr>
          <a:xfrm>
            <a:off x="7700000" y="5050000"/>
            <a:ext cx="3900000" cy="760000"/>
          </a:xfrm>
          <a:prstGeom prst="rect">
            <a:avLst/>
          </a:prstGeom>
          <a:solidFill>
            <a:srgbClr val="CCFBF1"/>
          </a:solidFill>
          <a:ln>
            <a:solidFill>
              <a:srgbClr val="5EEAD4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600" b="1">
                <a:solidFill>
                  <a:srgbClr val="134E4A"/>
                </a:solidFill>
                <a:latin typeface="Aptos"/>
              </a:rPr>
              <a:t>Next challenge: keep the no-copy benefit while recovering sparse solver efficiency.</a:t>
            </a:r>
            <a:endParaRPr lang="en-US" sz="160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20000" y="350000"/>
            <a:ext cx="1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3000" b="1">
                <a:solidFill>
                  <a:srgbClr val="0F172A"/>
                </a:solidFill>
                <a:latin typeface="Aptos"/>
              </a:rPr>
              <a:t>Final Takeaway</a:t>
            </a:r>
            <a:endParaRPr lang="en-US" sz="3000"/>
          </a:p>
        </p:txBody>
      </p:sp>
      <p:sp>
        <p:nvSpPr>
          <p:cNvPr id="5" name="Bullets"/>
          <p:cNvSpPr txBox="1"/>
          <p:nvPr/>
        </p:nvSpPr>
        <p:spPr>
          <a:xfrm>
            <a:off x="620000" y="1250000"/>
            <a:ext cx="6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Level 1: CPU OSQP - reliable, sparse, mature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Level 2: Torch prototype - real CUDA tensors, no NumPy copy, dense and limited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Level 3: real OSQP CUDA interop - future target, sparse and optimized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Current work solves the data-movement problem first</a:t>
            </a:r>
            <a:endParaRPr lang="en-US" sz="1700"/>
          </a:p>
          <a:p>
            <a:pPr marL="0" indent="0"/>
            <a:r>
              <a:rPr lang="en-US" sz="1700" b="0">
                <a:solidFill>
                  <a:srgbClr val="1E293B"/>
                </a:solidFill>
                <a:latin typeface="Aptos"/>
              </a:rPr>
              <a:t>- Next work should preserve sparse solver efficiency</a:t>
            </a:r>
            <a:endParaRPr lang="en-US" sz="1700"/>
          </a:p>
        </p:txBody>
      </p:sp>
      <p:sp>
        <p:nvSpPr>
          <p:cNvPr id="6" name="Code"/>
          <p:cNvSpPr txBox="1"/>
          <p:nvPr/>
        </p:nvSpPr>
        <p:spPr>
          <a:xfrm>
            <a:off x="7800000" y="1450000"/>
            <a:ext cx="3800000" cy="3900000"/>
          </a:xfrm>
          <a:prstGeom prst="rect">
            <a:avLst/>
          </a:prstGeom>
          <a:solidFill>
            <a:srgbClr val="0F172A"/>
          </a:solidFill>
          <a:ln>
            <a:solidFill>
              <a:srgbClr val="0F766E"/>
            </a:solidFill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The Torch path is real GPU-capable computation,</a:t>
            </a:r>
            <a:endParaRPr lang="en-US" sz="1450"/>
          </a:p>
          <a:p>
            <a:pPr marL="0" indent="0"/>
            <a:r>
              <a:rPr lang="en-US" sz="1450" b="0">
                <a:solidFill>
                  <a:srgbClr val="E0F2FE"/>
                </a:solidFill>
                <a:latin typeface="Consolas"/>
              </a:rPr>
              <a:t>but not full OSQP GPU acceleration yet.</a:t>
            </a:r>
            <a:endParaRPr lang="en-US" sz="1450"/>
          </a:p>
        </p:txBody>
      </p:sp>
      <p:sp>
        <p:nvSpPr>
          <p:cNvPr id="7" name="Footer"/>
          <p:cNvSpPr txBox="1"/>
          <p:nvPr/>
        </p:nvSpPr>
        <p:spPr>
          <a:xfrm>
            <a:off x="52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PyGRANSO OSQP-to-Torch Translation Progress</a:t>
            </a:r>
            <a:endParaRPr lang="en-US" sz="900"/>
          </a:p>
        </p:txBody>
      </p:sp>
      <p:sp>
        <p:nvSpPr>
          <p:cNvPr id="8" name="Slide Number"/>
          <p:cNvSpPr txBox="1"/>
          <p:nvPr/>
        </p:nvSpPr>
        <p:spPr>
          <a:xfrm>
            <a:off x="11200000" y="6400000"/>
            <a:ext cx="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indent="0"/>
            <a:r>
              <a:rPr lang="en-US" sz="900" b="0">
                <a:solidFill>
                  <a:srgbClr val="64748B"/>
                </a:solidFill>
                <a:latin typeface="Aptos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GRANSO Teal">
  <a:themeElements>
    <a:clrScheme name="PyGRANSO Teal">
      <a:dk1>
        <a:srgbClr val="0F172A"/>
      </a:dk1>
      <a:lt1>
        <a:srgbClr val="F8FAFC"/>
      </a:lt1>
      <a:dk2>
        <a:srgbClr val="134E4A"/>
      </a:dk2>
      <a:lt2>
        <a:srgbClr val="CCFBF1"/>
      </a:lt2>
      <a:accent1>
        <a:srgbClr val="0F766E"/>
      </a:accent1>
      <a:accent2>
        <a:srgbClr val="2563EB"/>
      </a:accent2>
      <a:accent3>
        <a:srgbClr val="F59E0B"/>
      </a:accent3>
      <a:accent4>
        <a:srgbClr val="DC2626"/>
      </a:accent4>
      <a:accent5>
        <a:srgbClr val="7C3AED"/>
      </a:accent5>
      <a:accent6>
        <a:srgbClr val="475569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15</Slides>
  <Notes>0</Notes>
  <HiddenSlides>0</HiddenSlides>
  <MMClips>0</MMClips>
  <ScaleCrop>false</ScaleCrop>
  <Company>PyGRANSO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Translating PyGRANSO OSQP QP Solves to Torch</dc:title>
  <dc:creator>Codex</dc:creator>
  <cp:lastModifiedBy>Codex</cp:lastModifiedBy>
  <dcterms:created xsi:type="dcterms:W3CDTF">2026-06-08T17:21:53Z</dcterms:created>
  <dcterms:modified xsi:type="dcterms:W3CDTF">2026-06-08T17:21:53Z</dcterms:modified>
</cp:coreProperties>
</file>